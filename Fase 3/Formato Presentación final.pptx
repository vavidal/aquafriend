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UhClkqdf6bAU3p/gfizRHCNVe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hyperlink" Target="https://drive.google.com/file/d/1xOnfB0rbMJTk2O7K5HvhLk_m1nbWMVFG/view?usp=sharing" TargetMode="External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643674" y="2859613"/>
            <a:ext cx="6904652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PROYECTO “Aquafriends”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67679" y="1483503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0" i="0" lang="es-MX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Valeria Vidal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•"/>
              </a:pPr>
              <a:r>
                <a:rPr b="1" i="1" lang="es-MX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 del proyecto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•"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Gestión, coordinación y comunicación con el acuario. Apoyo en las diferentes áreas dentro del equipo de proyecto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101994" l="0" r="0" t="-101994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0" i="0" lang="es-MX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Nayareth Cárdenas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Desarrollo y diseño principal de las vistas de la pagina web creada, y el panel de administración implementado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blipFill rotWithShape="1">
              <a:blip r:embed="rId5">
                <a:alphaModFix/>
              </a:blip>
              <a:stretch>
                <a:fillRect b="-101994" l="0" r="0" t="-101994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0" i="0" lang="es-MX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Yasmin Santana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Backend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Desarrollo e integración de la pagina con la base de datos, funciones de javascript. Integración del panel de administración con la base de datos.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blipFill rotWithShape="1">
              <a:blip r:embed="rId6">
                <a:alphaModFix/>
              </a:blip>
              <a:stretch>
                <a:fillRect b="-101994" l="0" r="0" t="-101994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45659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INTEGRANTES DEL PROYECTO</a:t>
            </a:r>
            <a:endParaRPr sz="18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DESCRIPCIÓN DEL PROYECTO</a:t>
            </a:r>
            <a:endParaRPr sz="18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o dolor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Hoy en día, muchas personas, especialmente niños, niñas y adultos mayores, no pueden acceder físicamente a espacios como acuarios o centros educativos rurales debido a la distancia geográfica, recursos económicos limitados o condiciones de discapacidad.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Además, la enseñanza de temáticas ambientales aún presenta barreras de acceso y métodos poco interactivos, lo que dificulta su comprensión y motivación por parte de los estudiantes.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web educativa interactiva</a:t>
            </a: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permitirá explorar el Acuario y la Granja a través de recorridos virtuales en 360°. Interactuar con contenido en diferentes formatos: texto, imágenes, videos, etc. Posibilidad de acceso desde cualquier dispositivo (PC, tablets, smartphones) gracias a un diseño responsivo.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forma complementaria, se desarrollará un nuevo sitio institucional moderno y accesible, que permitirá dar mayor visibilidad al acuario y mejorar su posicionamiento digital.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OBJETIVO GENERAL</a:t>
            </a:r>
            <a:endParaRPr sz="18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OBJETIVOS ESPECÍFICOS</a:t>
            </a:r>
            <a:endParaRPr sz="18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plataforma web educativa interactiva que permita recorrer de manera virtual el Acuario y Granja Educativa de Puyehue mediante un recorrido 360°, integrando contenidos multimedia y accesibles que fomenten la educación ambiental y eliminen barreras físicas y geográficas.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14514" y="4879992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y construir un recorrido virtual en 360° con puntos interactivos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interfaz web responsiva y accesible desde distintos dispositivos. Rediseñar el sitio institucional del acuario, integrando acceso directo a AquaFriend.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pruebas de accesibilidad, usabilidad y experiencia de usuario.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Entregar un manual de uso y capacitación básica al equipo del acuario para su mantenimiento.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972715" y="663700"/>
            <a:ext cx="10246567" cy="1267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haroni"/>
              <a:buNone/>
            </a:pPr>
            <a:r>
              <a:rPr lang="es-MX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ÁREAS DE DESEMPEÑO Y COMPETENCIAS</a:t>
            </a:r>
            <a:endParaRPr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275572" y="1931437"/>
            <a:ext cx="3873760" cy="3284375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1764652" y="2275873"/>
            <a:ext cx="2895600" cy="2595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>
                <a:latin typeface="Arial"/>
                <a:ea typeface="Arial"/>
                <a:cs typeface="Arial"/>
                <a:sym typeface="Arial"/>
              </a:rPr>
              <a:t>Área (s) de desempeño(s)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MX" sz="1600">
                <a:latin typeface="Arial"/>
                <a:ea typeface="Arial"/>
                <a:cs typeface="Arial"/>
                <a:sym typeface="Arial"/>
              </a:rPr>
              <a:t>Desarrollo de software (Front-End y Back-End).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MX" sz="1600">
                <a:latin typeface="Arial"/>
                <a:ea typeface="Arial"/>
                <a:cs typeface="Arial"/>
                <a:sym typeface="Arial"/>
              </a:rPr>
              <a:t>Bases de Datos y Gestión de Información.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MX" sz="1600">
                <a:latin typeface="Arial"/>
                <a:ea typeface="Arial"/>
                <a:cs typeface="Arial"/>
                <a:sym typeface="Arial"/>
              </a:rPr>
              <a:t>Experiencia de Usuario (UI/UX).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MX" sz="1600">
                <a:latin typeface="Arial"/>
                <a:ea typeface="Arial"/>
                <a:cs typeface="Arial"/>
                <a:sym typeface="Arial"/>
              </a:rPr>
              <a:t>Integración de tecnologías web interactivas y educativas.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095999" y="1931436"/>
            <a:ext cx="4736841" cy="3284375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6295831" y="2173238"/>
            <a:ext cx="424776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Competencias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Diseñar, desarrollar e implementar soluciones tecnológicas innovadoras.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Gestionar proyectos informáticos aplicando metodologías ágiles.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software bajo estándares de accesibilidad y usabilidad.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Administrar bases de datos y sistemas de información.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Colaborar en equipos multidisciplinarios con responsabilidad y liderazgo.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cxnSp>
        <p:nvCxnSpPr>
          <p:cNvPr id="136" name="Google Shape;136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ALCANCES Y LIMITACIONES DEL PROYECTO</a:t>
            </a:r>
            <a:endParaRPr/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6"/>
          <p:cNvSpPr txBox="1"/>
          <p:nvPr/>
        </p:nvSpPr>
        <p:spPr>
          <a:xfrm>
            <a:off x="3081435" y="3244334"/>
            <a:ext cx="6162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315616" y="2232735"/>
            <a:ext cx="9321282" cy="2761861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694671" y="2625422"/>
            <a:ext cx="869029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s-MX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Acuario y Granja Educativa de Puyehue, en la Región de Los Lagos, es un espacio de enseñanza ambiental y conservación, pero enfrenta barreras de acceso: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MX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Distancia para escuelas rurales, costos de traslado y dificultades para personas mayores o con discapacidad.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superar estas limitaciones surge el proyecto AquaFriends, una plataforma web educativa e interactiva que extiende la experiencia del acuario mediante recorridos virtuales en 360°, hotspots informativos, fichas multimedia de especies, datos técnicos en tiempo real y acceso multiplataforma.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873554" y="970725"/>
            <a:ext cx="616286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METODOLOGÍA DE TRABAJO PARA EL DESARROLLO DEL PROYECTO</a:t>
            </a:r>
            <a:endParaRPr sz="28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 b="0" l="0" r="0" t="1301"/>
          <a:stretch/>
        </p:blipFill>
        <p:spPr>
          <a:xfrm>
            <a:off x="873555" y="3243958"/>
            <a:ext cx="6402576" cy="218138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873554" y="2199807"/>
            <a:ext cx="61628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MX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proyecto se gestionará con un enfoque ágil (Scrum/Kanban), dividiendo el trabajo en sprints de dos semanas con entregas parciales.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7476152" y="2347312"/>
            <a:ext cx="428974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Análisis y planificación:</a:t>
            </a:r>
            <a:r>
              <a:rPr b="0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recopilación de requerimientos con el acuario, definición de usuarios y casos de uso.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Diseño UI/UX:</a:t>
            </a:r>
            <a:r>
              <a:rPr b="0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creación de prototipos, wireframes y definición de experiencia del usuario.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Desarrollo Front-End:</a:t>
            </a:r>
            <a:r>
              <a:rPr b="0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implementación del recorrido 360° con hotspots y la interfaz principal.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Desarrollo Back-End y BD: </a:t>
            </a:r>
            <a:r>
              <a:rPr b="0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configuración de MySQL, CRUD de fichas y gestión de contenidos.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Integración:</a:t>
            </a:r>
            <a:r>
              <a:rPr b="0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conexión entre el recorrido virtual y las fichas multimedia.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Pruebas y validación:</a:t>
            </a:r>
            <a:r>
              <a:rPr b="0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 de usabilidad, accesibilidad y responsividad en distintos dispositivos.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Entrega y difusión: </a:t>
            </a:r>
            <a:r>
              <a:rPr b="0" i="0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despliegue del sistema, presentación final.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873554" y="970725"/>
            <a:ext cx="616286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ROLES ASIGNADOS EN SCRUM</a:t>
            </a:r>
            <a:endParaRPr sz="28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67" name="Google Shape;16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8" name="Google Shape;168;p8"/>
          <p:cNvSpPr txBox="1"/>
          <p:nvPr/>
        </p:nvSpPr>
        <p:spPr>
          <a:xfrm>
            <a:off x="873554" y="1493945"/>
            <a:ext cx="943065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detallar los roles, es importante destacar que el proyecto se gestionó bajo la metodología ágil Scrum.</a:t>
            </a:r>
            <a:r>
              <a:rPr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Este enfoque nos permitió trabajar de manera iterativa e incremental, con ciclos de mejora continua, reuniones periódicas y una comunicación efectiva entre los miembros del equipo. Gracias a esta estructura, cada integrante asumió un rol definido que facilitó la coordinación, la toma de decisiones y el cumplimiento de los entregables en cada sprint.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8"/>
          <p:cNvPicPr preferRelativeResize="0"/>
          <p:nvPr/>
        </p:nvPicPr>
        <p:blipFill rotWithShape="1">
          <a:blip r:embed="rId4">
            <a:alphaModFix/>
          </a:blip>
          <a:srcRect b="23678" l="0" r="0" t="20501"/>
          <a:stretch/>
        </p:blipFill>
        <p:spPr>
          <a:xfrm>
            <a:off x="1400926" y="3305776"/>
            <a:ext cx="2003652" cy="2421514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70" name="Google Shape;170;p8"/>
          <p:cNvSpPr txBox="1"/>
          <p:nvPr/>
        </p:nvSpPr>
        <p:spPr>
          <a:xfrm>
            <a:off x="1472845" y="5838363"/>
            <a:ext cx="18598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Valeria Vidal / Product Owner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5">
            <a:alphaModFix/>
          </a:blip>
          <a:srcRect b="21262" l="0" r="0" t="27189"/>
          <a:stretch/>
        </p:blipFill>
        <p:spPr>
          <a:xfrm>
            <a:off x="4850955" y="3305776"/>
            <a:ext cx="2099564" cy="2382407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72" name="Google Shape;172;p8"/>
          <p:cNvSpPr txBox="1"/>
          <p:nvPr/>
        </p:nvSpPr>
        <p:spPr>
          <a:xfrm>
            <a:off x="4772486" y="5887275"/>
            <a:ext cx="24334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Nayareth Cárdenas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Team 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7867247" y="5887275"/>
            <a:ext cx="24334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Yasmin Santana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Team </a:t>
            </a:r>
            <a:endParaRPr/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6">
            <a:alphaModFix/>
          </a:blip>
          <a:srcRect b="12832" l="0" r="0" t="18925"/>
          <a:stretch/>
        </p:blipFill>
        <p:spPr>
          <a:xfrm>
            <a:off x="7867247" y="3305776"/>
            <a:ext cx="1748701" cy="250078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1" y="1155656"/>
            <a:ext cx="12191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CRONOGRAMA PARA EL DESARROLLO DEL PROYECTO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198" y="1801987"/>
            <a:ext cx="10793977" cy="4848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1" y="1155656"/>
            <a:ext cx="12191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CRONOGRAMA PARA EL DESARROLLO DEL PROYECTO</a:t>
            </a:r>
            <a:endParaRPr/>
          </a:p>
        </p:txBody>
      </p:sp>
      <p:cxnSp>
        <p:nvCxnSpPr>
          <p:cNvPr id="191" name="Google Shape;191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2" name="Google Shape;1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291" y="1803363"/>
            <a:ext cx="11281792" cy="4685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471948" y="2595178"/>
            <a:ext cx="269153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MODELO DE DATOS</a:t>
            </a:r>
            <a:endParaRPr/>
          </a:p>
        </p:txBody>
      </p:sp>
      <p:cxnSp>
        <p:nvCxnSpPr>
          <p:cNvPr id="200" name="Google Shape;200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1"/>
          <p:cNvSpPr txBox="1"/>
          <p:nvPr/>
        </p:nvSpPr>
        <p:spPr>
          <a:xfrm>
            <a:off x="508422" y="3795507"/>
            <a:ext cx="261858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https://drive.google.com/file/d/1xOnfB0rbMJTk2O7K5HvhLk_m1nbWMVFG/view?usp=sharing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1"/>
          <p:cNvCxnSpPr/>
          <p:nvPr/>
        </p:nvCxnSpPr>
        <p:spPr>
          <a:xfrm flipH="1" rot="10800000">
            <a:off x="594852" y="3784718"/>
            <a:ext cx="2059858" cy="10789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3" name="Google Shape;203;p11"/>
          <p:cNvPicPr preferRelativeResize="0"/>
          <p:nvPr/>
        </p:nvPicPr>
        <p:blipFill rotWithShape="1">
          <a:blip r:embed="rId5">
            <a:alphaModFix/>
          </a:blip>
          <a:srcRect b="5380" l="3925" r="3406" t="5380"/>
          <a:stretch/>
        </p:blipFill>
        <p:spPr>
          <a:xfrm>
            <a:off x="3449480" y="899638"/>
            <a:ext cx="8234098" cy="573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2"/>
          <p:cNvPicPr preferRelativeResize="0"/>
          <p:nvPr/>
        </p:nvPicPr>
        <p:blipFill rotWithShape="1">
          <a:blip r:embed="rId3">
            <a:alphaModFix/>
          </a:blip>
          <a:srcRect b="5380" l="3925" r="3406" t="5380"/>
          <a:stretch/>
        </p:blipFill>
        <p:spPr>
          <a:xfrm>
            <a:off x="1378558" y="140762"/>
            <a:ext cx="9434884" cy="657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727587" y="2595178"/>
            <a:ext cx="36136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ARQUITECTURA DE SOFTWARE</a:t>
            </a:r>
            <a:endParaRPr/>
          </a:p>
        </p:txBody>
      </p:sp>
      <p:cxnSp>
        <p:nvCxnSpPr>
          <p:cNvPr id="216" name="Google Shape;216;p1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7" name="Google Shape;217;p13"/>
          <p:cNvCxnSpPr/>
          <p:nvPr/>
        </p:nvCxnSpPr>
        <p:spPr>
          <a:xfrm flipH="1" rot="10800000">
            <a:off x="820994" y="3805595"/>
            <a:ext cx="2059858" cy="10789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8" name="Google Shape;2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2216" y="769610"/>
            <a:ext cx="5756958" cy="59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PROYECTO “Aquafriends”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TECNOLOGÍAS UTILIZADAS</a:t>
            </a:r>
            <a:endParaRPr/>
          </a:p>
        </p:txBody>
      </p:sp>
      <p:cxnSp>
        <p:nvCxnSpPr>
          <p:cNvPr id="226" name="Google Shape;226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7" name="Google Shape;227;p14"/>
          <p:cNvSpPr txBox="1"/>
          <p:nvPr/>
        </p:nvSpPr>
        <p:spPr>
          <a:xfrm>
            <a:off x="720790" y="2518739"/>
            <a:ext cx="616286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proyecto está alineado directamente con las competencias de un Ingeniero en Informática, ya que exige: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Desarrollo de software web utilizando frameworks modernos </a:t>
            </a:r>
            <a:r>
              <a:rPr b="1" i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(Angular, Node.js, A-Frame)</a:t>
            </a:r>
            <a:r>
              <a:rPr b="0" i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Gestión de bases de datos para el almacenamiento de fichas y contenidos </a:t>
            </a:r>
            <a:r>
              <a:rPr b="1" i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Aplicación de metodologías ágiles </a:t>
            </a:r>
            <a:r>
              <a:rPr b="1" i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(Scrum)</a:t>
            </a: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fundamentales en proyectos de innovación tecnológica.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Diseño de experiencias de usuario </a:t>
            </a:r>
            <a:r>
              <a:rPr b="1" i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(UX/UI)</a:t>
            </a:r>
            <a:r>
              <a:rPr b="0" i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garantizar accesibilidad y usabilidad.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Integración del 360° </a:t>
            </a:r>
            <a:r>
              <a:rPr b="1" i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(Marzipano)</a:t>
            </a:r>
            <a:endParaRPr b="1"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3081435" y="3244334"/>
            <a:ext cx="6162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0551" y="2593910"/>
            <a:ext cx="3460868" cy="260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0551" y="5247416"/>
            <a:ext cx="2772162" cy="600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5" name="Google Shape;2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5"/>
          <p:cNvSpPr txBox="1"/>
          <p:nvPr/>
        </p:nvSpPr>
        <p:spPr>
          <a:xfrm>
            <a:off x="1" y="2707792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¡VAMOS A CONOCER AQUAFRIENDS !</a:t>
            </a:r>
            <a:endParaRPr sz="24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1" name="Google Shape;2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6"/>
          <p:cNvSpPr txBox="1"/>
          <p:nvPr/>
        </p:nvSpPr>
        <p:spPr>
          <a:xfrm>
            <a:off x="1" y="2707792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accent1"/>
                </a:solidFill>
                <a:latin typeface="Aharoni"/>
                <a:ea typeface="Aharoni"/>
                <a:cs typeface="Aharoni"/>
                <a:sym typeface="Aharoni"/>
              </a:rPr>
              <a:t>¡MUCHAS GRACIAS!</a:t>
            </a:r>
            <a:endParaRPr sz="2400">
              <a:solidFill>
                <a:schemeClr val="accen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